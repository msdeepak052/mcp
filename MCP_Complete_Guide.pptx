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Segoe UI"/>
              </a:rPr>
              <a:t>What is MCP?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B4D8"/>
                </a:solidFill>
                <a:latin typeface="Segoe UI"/>
              </a:rPr>
              <a:t>Model Context Protocol — A Complete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246120"/>
            <a:ext cx="521208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34015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C4D8"/>
                </a:solidFill>
                <a:latin typeface="Segoe UI"/>
              </a:rPr>
              <a:t>Architecture  |  Components  |  Transport  |  Lifecycle  |  Use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F1C"/>
                </a:solidFill>
                <a:latin typeface="Segoe UI"/>
              </a:rPr>
              <a:t>Comprehensive Study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MCP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The simplest explanation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280160"/>
          </a:xfrm>
          <a:prstGeom prst="rect">
            <a:avLst/>
          </a:prstGeom>
          <a:solidFill>
            <a:srgbClr val="0F22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Segoe UI"/>
              </a:rPr>
              <a:t>"MCP is an open standard that lets AI applications connect to external
 tools, data sources, and services in a structured, secure way."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51760"/>
            <a:ext cx="3749039" cy="356616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Segoe UI"/>
              </a:rPr>
              <a:t>Analogy: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Segoe UI"/>
              </a:rPr>
              <a:t>USB-C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57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Just like USB-C is one universal
connector for all devices,
MCP is one protocol for all AI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51760"/>
            <a:ext cx="3749039" cy="356616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97680" y="2651760"/>
            <a:ext cx="3749039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788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Segoe UI"/>
              </a:rPr>
              <a:t>Analogy: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127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F1C"/>
                </a:solidFill>
                <a:latin typeface="Segoe UI"/>
              </a:rPr>
              <a:t>HTTP for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657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HTTP made the web work by
standarsing communication.
MCP does the same for AI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651760"/>
            <a:ext cx="3749039" cy="356616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229600" y="2651760"/>
            <a:ext cx="3749039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66760" y="2788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Segoe UI"/>
              </a:rPr>
              <a:t>Analogy: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27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  <a:latin typeface="Segoe UI"/>
              </a:rPr>
              <a:t>Plugin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Like browser extensions add
capabilities to your browser,
MCP servers add powers to 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Background &amp;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Where MCP came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01168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20040" y="139903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Segoe UI"/>
              </a:rPr>
              <a:t>Nov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554480"/>
            <a:ext cx="457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788920" y="1234440"/>
            <a:ext cx="9052560" cy="777240"/>
          </a:xfrm>
          <a:prstGeom prst="rect">
            <a:avLst/>
          </a:prstGeom>
          <a:solidFill>
            <a:srgbClr val="162B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926080" y="139903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Anthropic releases MCP as an open standard to the public.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2011680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0040" y="2450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Segoe UI"/>
              </a:rPr>
              <a:t>The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606040"/>
            <a:ext cx="45720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2788920" y="2286000"/>
            <a:ext cx="9052560" cy="777240"/>
          </a:xfrm>
          <a:prstGeom prst="rect">
            <a:avLst/>
          </a:prstGeom>
          <a:solidFill>
            <a:srgbClr val="162B3C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26080" y="245059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AI models couldn't connect to tools without custom code for each integration.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37560"/>
            <a:ext cx="2011680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0040" y="35021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Segoe UI"/>
              </a:rPr>
              <a:t>The 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657600"/>
            <a:ext cx="45720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788920" y="3337560"/>
            <a:ext cx="9052560" cy="777240"/>
          </a:xfrm>
          <a:prstGeom prst="rect">
            <a:avLst/>
          </a:prstGeom>
          <a:solidFill>
            <a:srgbClr val="162B3C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26080" y="3502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One universal protocol so any AI app can work with any tool.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89120"/>
            <a:ext cx="2011680" cy="7772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20040" y="45537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Segoe UI"/>
              </a:rPr>
              <a:t>Open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4709159"/>
            <a:ext cx="45720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788920" y="4389120"/>
            <a:ext cx="9052560" cy="777240"/>
          </a:xfrm>
          <a:prstGeom prst="rect">
            <a:avLst/>
          </a:prstGeom>
          <a:solidFill>
            <a:srgbClr val="162B3C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926080" y="455371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MCP spec &amp; SDKs are fully open source — anyone can build servers.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40679"/>
            <a:ext cx="2011680" cy="7772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20040" y="560527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Segoe UI"/>
              </a:rPr>
              <a:t>Adoption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5760719"/>
            <a:ext cx="457200" cy="54864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788920" y="5440679"/>
            <a:ext cx="9052560" cy="777240"/>
          </a:xfrm>
          <a:prstGeom prst="rect">
            <a:avLst/>
          </a:prstGeom>
          <a:solidFill>
            <a:srgbClr val="162B3C"/>
          </a:solidFill>
          <a:ln w="127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926080" y="5605271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Quickly adopted by Cursor, Zed, Replit, Codeium and many others.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The Problem MCP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Why AI needed a standard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521440" cy="2377440"/>
          </a:xfrm>
          <a:prstGeom prst="rect">
            <a:avLst/>
          </a:prstGeom>
          <a:solidFill>
            <a:srgbClr val="0F2230"/>
          </a:solidFill>
          <a:ln w="127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C5C"/>
                </a:solidFill>
                <a:latin typeface="Segoe UI"/>
              </a:rPr>
              <a:t>BEFORE MCP — Every tool needed its own custom glue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783080"/>
            <a:ext cx="2103120" cy="822960"/>
          </a:xfrm>
          <a:prstGeom prst="rect">
            <a:avLst/>
          </a:prstGeom>
          <a:solidFill>
            <a:srgbClr val="1A1A2E"/>
          </a:solidFill>
          <a:ln w="254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0" y="19385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C5C"/>
                </a:solidFill>
                <a:latin typeface="Segoe UI"/>
              </a:rPr>
              <a:t>AI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1188720" cy="731520"/>
          </a:xfrm>
          <a:prstGeom prst="rect">
            <a:avLst/>
          </a:prstGeom>
          <a:solidFill>
            <a:srgbClr val="162B3C"/>
          </a:solidFill>
          <a:ln w="127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Segoe UI"/>
              </a:rPr>
              <a:t>File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5C5C"/>
                </a:solidFill>
                <a:latin typeface="Segoe UI"/>
              </a:rPr>
              <a:t>custom
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828800"/>
            <a:ext cx="1188720" cy="731520"/>
          </a:xfrm>
          <a:prstGeom prst="rect">
            <a:avLst/>
          </a:prstGeom>
          <a:solidFill>
            <a:srgbClr val="162B3C"/>
          </a:solidFill>
          <a:ln w="127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737360" y="1993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Segoe U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5C5C"/>
                </a:solidFill>
                <a:latin typeface="Segoe UI"/>
              </a:rPr>
              <a:t>custom
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1828800"/>
            <a:ext cx="1188720" cy="731520"/>
          </a:xfrm>
          <a:prstGeom prst="rect">
            <a:avLst/>
          </a:prstGeom>
          <a:solidFill>
            <a:srgbClr val="162B3C"/>
          </a:solidFill>
          <a:ln w="127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63240" y="1993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Segoe UI"/>
              </a:rPr>
              <a:t>Web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331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5C5C"/>
                </a:solidFill>
                <a:latin typeface="Segoe UI"/>
              </a:rPr>
              <a:t>custom
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828800"/>
            <a:ext cx="1188720" cy="731520"/>
          </a:xfrm>
          <a:prstGeom prst="rect">
            <a:avLst/>
          </a:prstGeom>
          <a:solidFill>
            <a:srgbClr val="162B3C"/>
          </a:solidFill>
          <a:ln w="127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1993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Segoe UI"/>
              </a:rPr>
              <a:t>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331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5C5C"/>
                </a:solidFill>
                <a:latin typeface="Segoe UI"/>
              </a:rPr>
              <a:t>custom
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1828800"/>
            <a:ext cx="1188720" cy="731520"/>
          </a:xfrm>
          <a:prstGeom prst="rect">
            <a:avLst/>
          </a:prstGeom>
          <a:solidFill>
            <a:srgbClr val="162B3C"/>
          </a:solidFill>
          <a:ln w="127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41080" y="1993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Segoe UI"/>
              </a:rPr>
              <a:t>Slack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9" y="2331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5C5C"/>
                </a:solidFill>
                <a:latin typeface="Segoe UI"/>
              </a:rPr>
              <a:t>custom
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828800"/>
            <a:ext cx="1188720" cy="731520"/>
          </a:xfrm>
          <a:prstGeom prst="rect">
            <a:avLst/>
          </a:prstGeom>
          <a:solidFill>
            <a:srgbClr val="162B3C"/>
          </a:solidFill>
          <a:ln w="127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66960" y="19933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Segoe UI"/>
              </a:rPr>
              <a:t>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331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5C5C"/>
                </a:solidFill>
                <a:latin typeface="Segoe UI"/>
              </a:rPr>
              <a:t>custom
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2735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5C5C"/>
                </a:solidFill>
                <a:latin typeface="Segoe UI"/>
              </a:rPr>
              <a:t>Result: N tools = N custom integrations. Hard to build, maintain &amp; scale.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49039"/>
            <a:ext cx="11521440" cy="2606040"/>
          </a:xfrm>
          <a:prstGeom prst="rect">
            <a:avLst/>
          </a:prstGeom>
          <a:solidFill>
            <a:srgbClr val="0F2230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292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Segoe UI"/>
              </a:rPr>
              <a:t>WITH MCP — One standard protocol for everything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4297680"/>
            <a:ext cx="2103120" cy="822960"/>
          </a:xfrm>
          <a:prstGeom prst="rect">
            <a:avLst/>
          </a:prstGeom>
          <a:solidFill>
            <a:srgbClr val="0A2515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0" y="44622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  <a:latin typeface="Segoe UI"/>
              </a:rPr>
              <a:t>AI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23036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MCP Protocol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5257800"/>
            <a:ext cx="3931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11480" y="5486400"/>
            <a:ext cx="1188720" cy="640080"/>
          </a:xfrm>
          <a:prstGeom prst="rect">
            <a:avLst/>
          </a:prstGeom>
          <a:solidFill>
            <a:srgbClr val="162B3C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11480" y="5641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  <a:latin typeface="Segoe UI"/>
              </a:rPr>
              <a:t>File Srv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5486400"/>
            <a:ext cx="1188720" cy="640080"/>
          </a:xfrm>
          <a:prstGeom prst="rect">
            <a:avLst/>
          </a:prstGeom>
          <a:solidFill>
            <a:srgbClr val="162B3C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737360" y="5641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  <a:latin typeface="Segoe UI"/>
              </a:rPr>
              <a:t>DB Srv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5486400"/>
            <a:ext cx="1188720" cy="640080"/>
          </a:xfrm>
          <a:prstGeom prst="rect">
            <a:avLst/>
          </a:prstGeom>
          <a:solidFill>
            <a:srgbClr val="162B3C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063240" y="5641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  <a:latin typeface="Segoe UI"/>
              </a:rPr>
              <a:t>Web Srv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5486400"/>
            <a:ext cx="1188720" cy="640080"/>
          </a:xfrm>
          <a:prstGeom prst="rect">
            <a:avLst/>
          </a:prstGeom>
          <a:solidFill>
            <a:srgbClr val="162B3C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15200" y="5641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  <a:latin typeface="Segoe UI"/>
              </a:rPr>
              <a:t>Email Srv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1080" y="5486400"/>
            <a:ext cx="1188720" cy="640080"/>
          </a:xfrm>
          <a:prstGeom prst="rect">
            <a:avLst/>
          </a:prstGeom>
          <a:solidFill>
            <a:srgbClr val="162B3C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641080" y="5641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  <a:latin typeface="Segoe UI"/>
              </a:rPr>
              <a:t>Slack Srv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66960" y="5486400"/>
            <a:ext cx="1188720" cy="640080"/>
          </a:xfrm>
          <a:prstGeom prst="rect">
            <a:avLst/>
          </a:prstGeom>
          <a:solidFill>
            <a:srgbClr val="162B3C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966960" y="5641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  <a:latin typeface="Segoe UI"/>
              </a:rPr>
              <a:t>Git Srv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MCP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The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40312" cy="2286000"/>
          </a:xfrm>
          <a:prstGeom prst="rect">
            <a:avLst/>
          </a:prstGeom>
          <a:solidFill>
            <a:srgbClr val="081C2B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HOST APPLICATION  (e.g. Claude Desktop / Cursor / VS Code)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3474720" cy="1463040"/>
          </a:xfrm>
          <a:prstGeom prst="rect">
            <a:avLst/>
          </a:prstGeom>
          <a:solidFill>
            <a:srgbClr val="122B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MCP Client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4D8"/>
                </a:solidFill>
                <a:latin typeface="Segoe UI"/>
              </a:rPr>
              <a:t>manages connection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64208"/>
            <a:ext cx="3474720" cy="1463040"/>
          </a:xfrm>
          <a:prstGeom prst="rect">
            <a:avLst/>
          </a:prstGeom>
          <a:solidFill>
            <a:srgbClr val="122B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06240" y="20848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MCP Client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420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4D8"/>
                </a:solidFill>
                <a:latin typeface="Segoe UI"/>
              </a:rPr>
              <a:t>manages connection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664208"/>
            <a:ext cx="3474720" cy="1463040"/>
          </a:xfrm>
          <a:prstGeom prst="rect">
            <a:avLst/>
          </a:prstGeom>
          <a:solidFill>
            <a:srgbClr val="122B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55279" y="20848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MCP Client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5420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4D8"/>
                </a:solidFill>
                <a:latin typeface="Segoe UI"/>
              </a:rPr>
              <a:t>manages connection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20440"/>
            <a:ext cx="11640312" cy="502920"/>
          </a:xfrm>
          <a:prstGeom prst="rect">
            <a:avLst/>
          </a:prstGeom>
          <a:solidFill>
            <a:srgbClr val="1A0F00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F1C"/>
                </a:solidFill>
                <a:latin typeface="Segoe UI"/>
              </a:rPr>
              <a:t>TRANSPORT LAYER  --  stdio (local)   |   HTTP + SSE (remote)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60520"/>
            <a:ext cx="3474720" cy="123444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34747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431596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  <a:latin typeface="Segoe UI"/>
              </a:rPr>
              <a:t>MCP Server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Segoe UI"/>
              </a:rPr>
              <a:t>File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160520"/>
            <a:ext cx="3474720" cy="123444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06240" y="4160520"/>
            <a:ext cx="347472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206240" y="431596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A0"/>
                </a:solidFill>
                <a:latin typeface="Segoe UI"/>
              </a:rPr>
              <a:t>MCP Server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7731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Segoe UI"/>
              </a:rPr>
              <a:t>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160520"/>
            <a:ext cx="3474720" cy="123444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955279" y="4160520"/>
            <a:ext cx="3474720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955279" y="431596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  <a:latin typeface="Segoe UI"/>
              </a:rPr>
              <a:t>MCP Server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7731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Segoe UI"/>
              </a:rPr>
              <a:t>Web / APIs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  <a:latin typeface="Segoe UI"/>
              </a:rPr>
              <a:t>Tools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18488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618488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  <a:latin typeface="Segoe UI"/>
              </a:rPr>
              <a:t>Resources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79776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779776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9F1C"/>
                </a:solidFill>
                <a:latin typeface="Segoe UI"/>
              </a:rPr>
              <a:t>Prompts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206240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  <a:latin typeface="Segoe UI"/>
              </a:rPr>
              <a:t>Tools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67527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67527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  <a:latin typeface="Segoe UI"/>
              </a:rPr>
              <a:t>Resources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8816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28816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9F1C"/>
                </a:solidFill>
                <a:latin typeface="Segoe UI"/>
              </a:rPr>
              <a:t>Prompts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955279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  <a:latin typeface="Segoe UI"/>
              </a:rPr>
              <a:t>Tools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16567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16567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  <a:latin typeface="Segoe UI"/>
              </a:rPr>
              <a:t>Resources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77855" y="5532120"/>
            <a:ext cx="1097280" cy="502920"/>
          </a:xfrm>
          <a:prstGeom prst="rect">
            <a:avLst/>
          </a:prstGeom>
          <a:solidFill>
            <a:srgbClr val="0A202E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277855" y="56235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9F1C"/>
                </a:solidFill>
                <a:latin typeface="Segoe UI"/>
              </a:rPr>
              <a:t>Prompts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The Three 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Host, Client &amp; Server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49039" cy="530352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Segoe UI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  <a:latin typeface="Segoe UI"/>
              </a:rPr>
              <a:t>The AI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3474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The app the user directly uses.
Examples: Claude Desktop, Cursor, VS Code
It CONTAINS one or more MCP Clients.
Responsibility:
  - Manage the user interaction
  - Hold &amp; run MCP Clients
  - Enforce security &amp; consent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143000"/>
            <a:ext cx="3749039" cy="530352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270248" y="1143000"/>
            <a:ext cx="3749039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07408" y="1261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  <a:latin typeface="Segoe UI"/>
              </a:rPr>
              <a:t>The Bridge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2148840"/>
            <a:ext cx="347472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07408" y="224028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Lives INSIDE the Host.
One Client &lt;-&gt; One Server (1:1 mapping)
Responsibility:
  - Open/maintain connection to a Server
  - Send requests (tool calls, reads)
  - Receive &amp; relay responses to the AI
  - Handle protocol negotiation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143000"/>
            <a:ext cx="3749039" cy="530352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220456" y="1143000"/>
            <a:ext cx="3749039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1261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F1C"/>
                </a:solidFill>
                <a:latin typeface="Segoe UI"/>
              </a:rPr>
              <a:t>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  <a:latin typeface="Segoe UI"/>
              </a:rPr>
              <a:t>The Capability Provider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7616" y="2148840"/>
            <a:ext cx="3474720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57616" y="224028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A separate program YOU build or install.
Exposes: Tools, Resources, Prompts
Examples: filesystem server, DB server
Responsibility:
  - Execute tool calls safely
  - Serve resource data on request
  - Can be local or remote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Transport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How Client and Server communicate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8"/>
                </a:solidFill>
                <a:latin typeface="Segoe UI"/>
              </a:rPr>
              <a:t>Transport = the communication channel between MCP Client and MCP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5486400" cy="480060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4864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  <a:latin typeface="Segoe UI"/>
              </a:rPr>
              <a:t>stdio  (Standard Input/Output)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D6A0"/>
                </a:solidFill>
                <a:latin typeface="Segoe UI"/>
              </a:rPr>
              <a:t>Best for: LOCAL servers on same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Segoe UI"/>
              </a:rPr>
              <a:t>-&gt;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Client launches Server as a child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Segoe UI"/>
              </a:rPr>
              <a:t>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27832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They talk through stdin &amp; stdout pipes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667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Segoe UI"/>
              </a:rPr>
              <a:t>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66744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Simple, fast, no network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0565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Segoe UI"/>
              </a:rPr>
              <a:t>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105656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Server lives &amp; dies with the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4456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Segoe UI"/>
              </a:rP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544568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Great for filesystem, local DBs, scripts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57800"/>
            <a:ext cx="1828800" cy="548640"/>
          </a:xfrm>
          <a:prstGeom prst="rect">
            <a:avLst/>
          </a:prstGeom>
          <a:solidFill>
            <a:srgbClr val="0A25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Segoe UI"/>
              </a:rPr>
              <a:t>---stdin/stdout---&gt;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5257800"/>
            <a:ext cx="914400" cy="548640"/>
          </a:xfrm>
          <a:prstGeom prst="rect">
            <a:avLst/>
          </a:prstGeom>
          <a:solidFill>
            <a:srgbClr val="0A25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754880" y="5376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Segoe UI"/>
              </a:rPr>
              <a:t>Srv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1691640"/>
            <a:ext cx="5486400" cy="480060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382512" y="1691640"/>
            <a:ext cx="5486400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19672" y="182880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9F1C"/>
                </a:solidFill>
                <a:latin typeface="Segoe UI"/>
              </a:rPr>
              <a:t>HTTP + 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2331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D6A0"/>
                </a:solidFill>
                <a:latin typeface="Segoe UI"/>
              </a:rPr>
              <a:t>Best for: REMOTE servers over a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278892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7144" y="2788920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Client sends requests via HTTP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22783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-&gt;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3227832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Server pushes updates via SSE (Server-Sent Events)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36667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-&gt;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3666744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Server runs independently (not a child process)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410565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-&gt;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7144" y="4105656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Can be shared by multiple Clients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454456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-&gt;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4544568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Great for cloud services, shared tools, SaaS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5257800"/>
            <a:ext cx="1828800" cy="548640"/>
          </a:xfrm>
          <a:prstGeom prst="rect">
            <a:avLst/>
          </a:prstGeom>
          <a:solidFill>
            <a:srgbClr val="251800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53796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9F1C"/>
                </a:solidFill>
                <a:latin typeface="Segoe UI"/>
              </a:rPr>
              <a:t>Client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Segoe UI"/>
              </a:rPr>
              <a:t>--HTTP/SSE--&gt;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87000" y="5257800"/>
            <a:ext cx="1463040" cy="548640"/>
          </a:xfrm>
          <a:prstGeom prst="rect">
            <a:avLst/>
          </a:prstGeom>
          <a:solidFill>
            <a:srgbClr val="251800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287000" y="53766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9F1C"/>
                </a:solidFill>
                <a:latin typeface="Segoe UI"/>
              </a:rPr>
              <a:t>Remote Srv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What an MCP Server Can Expose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Three types of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49039" cy="534924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Segoe UI"/>
              </a:rPr>
              <a:t>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64592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6344" y="1746504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AI can CALL these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Functions that DO something.
The AI can invoke them to take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Examples: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20040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200400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search_web(query)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58444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584448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read_file(path)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96849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968496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send_email(to, body)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3525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352544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run_query(sql)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736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736592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create_issue(title)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89320"/>
            <a:ext cx="3474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6053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  <a:latin typeface="Segoe UI"/>
              </a:rPr>
              <a:t>Model-controlled -- AI decides when to 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1143000"/>
            <a:ext cx="3749039" cy="534924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270248" y="1143000"/>
            <a:ext cx="3749039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07408" y="1261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D6A0"/>
                </a:solidFill>
                <a:latin typeface="Segoe UI"/>
              </a:rPr>
              <a:t>RESOURCES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1737360"/>
            <a:ext cx="164592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16552" y="1746504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AI can READ these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2103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Data that the AI can access.
Like files or database rows.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2852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Examples: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1688" y="320040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*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59" y="3200400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file://notes.txt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358444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59" y="3584448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db://users/table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396849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59" y="3968496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screen://current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1688" y="43525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59" y="4352544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git://repo/log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61688" y="4736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4736592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http://api/data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7408" y="5989320"/>
            <a:ext cx="347472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407408" y="6053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  <a:latin typeface="Segoe UI"/>
              </a:rPr>
              <a:t>App-controlled -- host decides what to expose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143000"/>
            <a:ext cx="3749039" cy="534924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220456" y="1143000"/>
            <a:ext cx="3749039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357616" y="12618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F1C"/>
                </a:solidFill>
                <a:latin typeface="Segoe UI"/>
              </a:rPr>
              <a:t>PROMPTS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57616" y="1737360"/>
            <a:ext cx="1645920" cy="2926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66760" y="1746504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Pre-built templates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2103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Reusable prompt templates for
common workflows.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7616" y="28529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  <a:latin typeface="Segoe UI"/>
              </a:rPr>
              <a:t>Examples: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1896" y="320040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Segoe UI"/>
              </a:rPr>
              <a:t>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59368" y="3200400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code_review template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1896" y="358444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Segoe UI"/>
              </a:rPr>
              <a:t>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59368" y="3584448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summarise_doc template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1896" y="396849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Segoe UI"/>
              </a:rPr>
              <a:t>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9368" y="3968496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debug_error template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1896" y="43525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Segoe UI"/>
              </a:rPr>
              <a:t>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4352544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meeting_notes template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1896" y="4736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Segoe UI"/>
              </a:rPr>
              <a:t>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59368" y="4736592"/>
            <a:ext cx="32644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write_tests template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57616" y="5989320"/>
            <a:ext cx="3474720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357616" y="60533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  <a:latin typeface="Segoe UI"/>
              </a:rPr>
              <a:t>User-controlled -- user selects the template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Tools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The most powerful MCP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11521440" cy="749808"/>
          </a:xfrm>
          <a:prstGeom prst="rect">
            <a:avLst/>
          </a:prstGeom>
          <a:solidFill>
            <a:srgbClr val="0F223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2161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A Tool is a function exposed by an MCP Server that the AI model can CALL to perform an action. The AI sends a tool call, the server executes it and returns the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57400"/>
            <a:ext cx="5394960" cy="4434840"/>
          </a:xfrm>
          <a:prstGeom prst="rect">
            <a:avLst/>
          </a:prstGeom>
          <a:solidFill>
            <a:srgbClr val="162B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Segoe UI"/>
              </a:rPr>
              <a:t>How Tools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100584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1. 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919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Server tells Client which tools are available + their 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64408"/>
            <a:ext cx="100584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2. AI decides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3756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AI reads the tool list and picks the right tool for the task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22776"/>
            <a:ext cx="100584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399592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3.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9592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AI sends: tool name + arguments (structured JSON)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81144"/>
            <a:ext cx="100584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4654296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4.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65429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Server runs the function safely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39512"/>
            <a:ext cx="100584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7200" y="5312664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5.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1266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Server returns the output back to the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97879"/>
            <a:ext cx="100584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" y="5971031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6.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971031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AI uses the result to respond to the user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057400"/>
            <a:ext cx="5897880" cy="4434840"/>
          </a:xfrm>
          <a:prstGeom prst="rect">
            <a:avLst/>
          </a:prstGeom>
          <a:solidFill>
            <a:srgbClr val="0A140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26480" y="2121408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D6A0"/>
                </a:solidFill>
                <a:latin typeface="Segoe UI"/>
              </a:rPr>
              <a:t>Example Tool Definition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578608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D6A0"/>
                </a:solidFill>
                <a:latin typeface="Consolas"/>
              </a:rPr>
              <a:t>Tool: read_file
Description:
  Read the contents of a file
Parameters:
  path (string, required)
    -- The file path to read
Returns:
  content (string)
    -- File contents as text
AI Call Example:
  read_file(path="notes.txt")
Server Returns:
  "Meeting at 3pm. Buy milk."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Resources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Data the AI can 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11521440" cy="749808"/>
          </a:xfrm>
          <a:prstGeom prst="rect">
            <a:avLst/>
          </a:prstGeom>
          <a:solidFill>
            <a:srgbClr val="0F2230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2161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A Resource is a piece of data exposed by an MCP Server. The AI (or Host app) can READ it to gain context. Unlike Tools, Resources don't execute actions — they supply information.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84831"/>
            <a:ext cx="5486400" cy="182880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2084831"/>
            <a:ext cx="5486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223113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Segoe UI"/>
              </a:rPr>
              <a:t>Text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Plain text files, logs,
config files, notes.
URI: file:///path/to/file.txt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2084831"/>
            <a:ext cx="5486400" cy="182880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89320" y="2084831"/>
            <a:ext cx="5486400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26480" y="223113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D6A0"/>
                </a:solidFill>
                <a:latin typeface="Segoe UI"/>
              </a:rPr>
              <a:t>Binary 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706624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Images, PDFs, audio.
Returned as base64.
URI: file:///image.png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96512"/>
            <a:ext cx="5486400" cy="182880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20040" y="4096512"/>
            <a:ext cx="5486400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424281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1C"/>
                </a:solidFill>
                <a:latin typeface="Segoe UI"/>
              </a:rPr>
              <a:t>Dynamic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18304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Real-time data like
live DB rows or API output.
URI: db://table/rows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4096512"/>
            <a:ext cx="5486400" cy="1828800"/>
          </a:xfrm>
          <a:prstGeom prst="rect">
            <a:avLst/>
          </a:prstGeom>
          <a:solidFill>
            <a:srgbClr val="162B3C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89320" y="4096512"/>
            <a:ext cx="5486400" cy="914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6480" y="424281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77DFF"/>
                </a:solidFill>
                <a:latin typeface="Segoe UI"/>
              </a:rPr>
              <a:t>Resource Templates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718304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Parameterised URIs
e.g. file:///{filename}
to access any matching 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080760"/>
            <a:ext cx="11521440" cy="457200"/>
          </a:xfrm>
          <a:prstGeom prst="rect">
            <a:avLst/>
          </a:prstGeom>
          <a:solidFill>
            <a:srgbClr val="0A2515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61264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D6A0"/>
                </a:solidFill>
                <a:latin typeface="Segoe UI"/>
              </a:rPr>
              <a:t>Resources use URI addressing  --  each resource has a unique URI like a web URL.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Prompts —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Reusable AI workflow templates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11521440" cy="749808"/>
          </a:xfrm>
          <a:prstGeom prst="rect">
            <a:avLst/>
          </a:prstGeom>
          <a:solidFill>
            <a:srgbClr val="0F2230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2161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Prompts are pre-built, reusable prompt templates that an MCP Server exposes. The USER selects a prompt, the Host fills in parameters, and sends it to the AI — giving consistent, repeatable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57400"/>
            <a:ext cx="5394960" cy="4480560"/>
          </a:xfrm>
          <a:prstGeom prst="rect">
            <a:avLst/>
          </a:prstGeom>
          <a:solidFill>
            <a:srgbClr val="162B3C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212140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1C"/>
                </a:solidFill>
                <a:latin typeface="Segoe UI"/>
              </a:rPr>
              <a:t>Why Prompts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51760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Consistent outputs every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6382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&gt;&gt;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63824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Encode best practices in a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75887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675887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Users don't need to write complex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8795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&gt;&gt;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187952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Can include context from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0001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Teams can share proven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Segoe UI"/>
              </a:rPr>
              <a:t>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212080"/>
            <a:ext cx="4773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Discoverable -- AI can list available prompts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057400"/>
            <a:ext cx="5897880" cy="4480560"/>
          </a:xfrm>
          <a:prstGeom prst="rect">
            <a:avLst/>
          </a:prstGeom>
          <a:solidFill>
            <a:srgbClr val="1A100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126480" y="2121408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1C"/>
                </a:solidFill>
                <a:latin typeface="Segoe UI"/>
              </a:rPr>
              <a:t>Example Prompt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578608"/>
            <a:ext cx="5577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9F1C"/>
                </a:solidFill>
                <a:latin typeface="Consolas"/>
              </a:rPr>
              <a:t>Name: code_review
Description:
  Review code for bugs &amp; improvements
Parameters:
  language (string)
    -- Programming language
  code (string)
    -- The code to review
Generated Prompt:
  "Review this {language} code for
   bugs, style issues, and suggest
   improvements:
   {code}"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MCP Session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What happens from start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2743200" cy="365760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27432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9768" y="1298448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Segoe UI"/>
              </a:rPr>
              <a:t>1. Initialize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828800"/>
            <a:ext cx="2523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Client connects to Server.
They exchange protocol versions
and capabilities.
Handshake is completed.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4114800"/>
            <a:ext cx="2523744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9768" y="420624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Analogy: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526280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Segoe UI"/>
              </a:rPr>
              <a:t>Like a handshake before
a conversation begins.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01752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Segoe UI"/>
              </a:rPr>
              <a:t>==&gt;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1170432"/>
            <a:ext cx="2743200" cy="365760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264408" y="1170432"/>
            <a:ext cx="2743200" cy="10972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74136" y="1298448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D6A0"/>
                </a:solidFill>
                <a:latin typeface="Segoe UI"/>
              </a:rPr>
              <a:t>2. 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1828800"/>
            <a:ext cx="2523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Client asks Server:
- What tools do you have?
- What resources can I read?
- What prompts exist?
Server lists all capabilities.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4136" y="4114800"/>
            <a:ext cx="2523744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374136" y="420624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Segoe UI"/>
              </a:rPr>
              <a:t>Analogy: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4526280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Segoe UI"/>
              </a:rPr>
              <a:t>Like reading a menu before
ordering food.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301752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Segoe UI"/>
              </a:rPr>
              <a:t>==&gt;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170432"/>
            <a:ext cx="2743200" cy="365760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08776" y="1170432"/>
            <a:ext cx="2743200" cy="10972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18504" y="1298448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1C"/>
                </a:solidFill>
                <a:latin typeface="Segoe UI"/>
              </a:rPr>
              <a:t>3. Operate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1828800"/>
            <a:ext cx="2523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Normal working phase.
AI calls tools as needed.
Reads resources on demand.
Server executes &amp; returns
results. Repeats as needed.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8504" y="4114800"/>
            <a:ext cx="2523744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18504" y="420624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  <a:latin typeface="Segoe UI"/>
              </a:rPr>
              <a:t>Analogy: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4526280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Segoe UI"/>
              </a:rPr>
              <a:t>The actual work gets done
during this phase.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301752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4D8"/>
                </a:solidFill>
                <a:latin typeface="Segoe UI"/>
              </a:rPr>
              <a:t>==&gt;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53144" y="1170432"/>
            <a:ext cx="2743200" cy="3657600"/>
          </a:xfrm>
          <a:prstGeom prst="rect">
            <a:avLst/>
          </a:prstGeom>
          <a:solidFill>
            <a:srgbClr val="162B3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153144" y="1170432"/>
            <a:ext cx="2743200" cy="10972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262872" y="1298448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Segoe UI"/>
              </a:rPr>
              <a:t>4. Shutdown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1828800"/>
            <a:ext cx="252374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Client sends close signal.
Server cleans up resources.
Connection is closed cleanly.
No data loss or corruption.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62872" y="4114800"/>
            <a:ext cx="2523744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62872" y="420624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Analogy: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4526280"/>
            <a:ext cx="25237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  <a:latin typeface="Segoe UI"/>
              </a:rPr>
              <a:t>Clean exit like closing
an app properly.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03520"/>
            <a:ext cx="11521440" cy="566928"/>
          </a:xfrm>
          <a:prstGeom prst="rect">
            <a:avLst/>
          </a:prstGeom>
          <a:solidFill>
            <a:srgbClr val="0F2230"/>
          </a:solidFill>
          <a:ln w="1270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2920" y="5376672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8"/>
                </a:solidFill>
                <a:latin typeface="Segoe UI"/>
              </a:rPr>
              <a:t>Note: MCP uses JSON-RPC 2.0 as the message format for all communication between Client and Server.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MCP vs Function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What's the difference?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4114800" cy="50292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434840" y="1170432"/>
            <a:ext cx="3566160" cy="50292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001000" y="1170432"/>
            <a:ext cx="385876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Segoe UI"/>
              </a:rPr>
              <a:t>Aspect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2161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Function Calling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2161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  <a:latin typeface="Segoe UI"/>
              </a:rPr>
              <a:t>MCP (Tools)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411480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56616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001000" y="1737360"/>
            <a:ext cx="3858768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20040" y="1737360"/>
            <a:ext cx="4114800" cy="914400"/>
          </a:xfrm>
          <a:prstGeom prst="rect">
            <a:avLst/>
          </a:prstGeom>
          <a:noFill/>
          <a:ln w="635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34840" y="1737360"/>
            <a:ext cx="3566160" cy="914400"/>
          </a:xfrm>
          <a:prstGeom prst="rect">
            <a:avLst/>
          </a:prstGeom>
          <a:noFill/>
          <a:ln w="63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01000" y="1737360"/>
            <a:ext cx="3858768" cy="914400"/>
          </a:xfrm>
          <a:prstGeom prst="rect">
            <a:avLst/>
          </a:prstGeom>
          <a:noFill/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1810512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What is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8105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Built into the LLM API.
AI calls a function directly.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810512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External protocol.
AI calls a server-hosted function.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15768"/>
            <a:ext cx="4114800" cy="914400"/>
          </a:xfrm>
          <a:prstGeom prst="rect">
            <a:avLst/>
          </a:prstGeom>
          <a:solidFill>
            <a:srgbClr val="0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434840" y="2715768"/>
            <a:ext cx="3566160" cy="914400"/>
          </a:xfrm>
          <a:prstGeom prst="rect">
            <a:avLst/>
          </a:prstGeom>
          <a:solidFill>
            <a:srgbClr val="0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01000" y="2715768"/>
            <a:ext cx="3858768" cy="914400"/>
          </a:xfrm>
          <a:prstGeom prst="rect">
            <a:avLst/>
          </a:prstGeom>
          <a:solidFill>
            <a:srgbClr val="0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20040" y="2715768"/>
            <a:ext cx="4114800" cy="914400"/>
          </a:xfrm>
          <a:prstGeom prst="rect">
            <a:avLst/>
          </a:prstGeom>
          <a:noFill/>
          <a:ln w="635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434840" y="2715768"/>
            <a:ext cx="3566160" cy="914400"/>
          </a:xfrm>
          <a:prstGeom prst="rect">
            <a:avLst/>
          </a:prstGeom>
          <a:noFill/>
          <a:ln w="63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01000" y="2715768"/>
            <a:ext cx="3858768" cy="914400"/>
          </a:xfrm>
          <a:prstGeom prst="rect">
            <a:avLst/>
          </a:prstGeom>
          <a:noFill/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Where does it live?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78892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Inside your app code.
Functions defined per-app.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78892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In a separate MCP Server.
Reusable across any app.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94176"/>
            <a:ext cx="411480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434840" y="3694176"/>
            <a:ext cx="356616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01000" y="3694176"/>
            <a:ext cx="3858768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20040" y="3694176"/>
            <a:ext cx="4114800" cy="914400"/>
          </a:xfrm>
          <a:prstGeom prst="rect">
            <a:avLst/>
          </a:prstGeom>
          <a:noFill/>
          <a:ln w="635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434840" y="3694176"/>
            <a:ext cx="3566160" cy="914400"/>
          </a:xfrm>
          <a:prstGeom prst="rect">
            <a:avLst/>
          </a:prstGeom>
          <a:noFill/>
          <a:ln w="63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001000" y="3694176"/>
            <a:ext cx="3858768" cy="914400"/>
          </a:xfrm>
          <a:prstGeom prst="rect">
            <a:avLst/>
          </a:prstGeom>
          <a:noFill/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3767328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Reusability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76732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Low -- tied to one app.
Must rewrite for each project.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767328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High -- one server works with
any MCP-compatible AI app.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672583"/>
            <a:ext cx="4114800" cy="914400"/>
          </a:xfrm>
          <a:prstGeom prst="rect">
            <a:avLst/>
          </a:prstGeom>
          <a:solidFill>
            <a:srgbClr val="0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4434840" y="4672583"/>
            <a:ext cx="3566160" cy="914400"/>
          </a:xfrm>
          <a:prstGeom prst="rect">
            <a:avLst/>
          </a:prstGeom>
          <a:solidFill>
            <a:srgbClr val="0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001000" y="4672583"/>
            <a:ext cx="3858768" cy="914400"/>
          </a:xfrm>
          <a:prstGeom prst="rect">
            <a:avLst/>
          </a:prstGeom>
          <a:solidFill>
            <a:srgbClr val="0F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20040" y="4672583"/>
            <a:ext cx="4114800" cy="914400"/>
          </a:xfrm>
          <a:prstGeom prst="rect">
            <a:avLst/>
          </a:prstGeom>
          <a:noFill/>
          <a:ln w="635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434840" y="4672583"/>
            <a:ext cx="3566160" cy="914400"/>
          </a:xfrm>
          <a:prstGeom prst="rect">
            <a:avLst/>
          </a:prstGeom>
          <a:noFill/>
          <a:ln w="63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01000" y="4672583"/>
            <a:ext cx="3858768" cy="914400"/>
          </a:xfrm>
          <a:prstGeom prst="rect">
            <a:avLst/>
          </a:prstGeom>
          <a:noFill/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4745736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Standardisation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745736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No standard -- each LLM
provider has their own format.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745736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Open standard -- same protocol
for all AI models &amp; apps.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650992"/>
            <a:ext cx="411480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4434840" y="5650992"/>
            <a:ext cx="3566160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001000" y="5650992"/>
            <a:ext cx="3858768" cy="914400"/>
          </a:xfrm>
          <a:prstGeom prst="rect">
            <a:avLst/>
          </a:prstGeom>
          <a:solidFill>
            <a:srgbClr val="16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20040" y="5650992"/>
            <a:ext cx="4114800" cy="914400"/>
          </a:xfrm>
          <a:prstGeom prst="rect">
            <a:avLst/>
          </a:prstGeom>
          <a:noFill/>
          <a:ln w="635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4434840" y="5650992"/>
            <a:ext cx="3566160" cy="914400"/>
          </a:xfrm>
          <a:prstGeom prst="rect">
            <a:avLst/>
          </a:prstGeom>
          <a:noFill/>
          <a:ln w="63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001000" y="5650992"/>
            <a:ext cx="3858768" cy="914400"/>
          </a:xfrm>
          <a:prstGeom prst="rect">
            <a:avLst/>
          </a:prstGeom>
          <a:noFill/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200" y="5724144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Best for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72414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Simple, one-off integrations
within a single app.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5724144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Complex, reusable tools shared
across multiple AI applications.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What can you actually DO with MCP?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3749039" cy="246888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3167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Segoe UI"/>
              </a:rPr>
              <a:t>Developer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- AI reads your codebase files
- Runs tests &amp; shows results
- Creates GitHub issues/PRs
- Searches documentation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170432"/>
            <a:ext cx="3749039" cy="246888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270248" y="1170432"/>
            <a:ext cx="3749039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07408" y="13167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D6A0"/>
                </a:solidFill>
                <a:latin typeface="Segoe UI"/>
              </a:rPr>
              <a:t>Data &amp;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8288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- AI queries your SQL database
- Reads CSV or JSON files
- Generates reports from data
- Updates records safely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170432"/>
            <a:ext cx="3749039" cy="246888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220456" y="1170432"/>
            <a:ext cx="3749039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57616" y="13167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F1C"/>
                </a:solidFill>
                <a:latin typeface="Segoe UI"/>
              </a:rPr>
              <a:t>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18288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- AI drafts &amp; sends emails
- Posts to Slack channels
- Creates calendar events
- Reads meeting notes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22191"/>
            <a:ext cx="3749039" cy="2468880"/>
          </a:xfrm>
          <a:prstGeom prst="rect">
            <a:avLst/>
          </a:prstGeom>
          <a:solidFill>
            <a:srgbClr val="162B3C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20040" y="3822191"/>
            <a:ext cx="3749039" cy="914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39684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77DFF"/>
                </a:solidFill>
                <a:latin typeface="Segoe UI"/>
              </a:rPr>
              <a:t>Web &amp;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59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- AI searches the web live
- Fetches webpage content
- Scrapes data from sites
- Monitors news / prices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3822191"/>
            <a:ext cx="3749039" cy="2468880"/>
          </a:xfrm>
          <a:prstGeom prst="rect">
            <a:avLst/>
          </a:prstGeom>
          <a:solidFill>
            <a:srgbClr val="162B3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270248" y="3822191"/>
            <a:ext cx="3749039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07408" y="39684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166"/>
                </a:solidFill>
                <a:latin typeface="Segoe UI"/>
              </a:rPr>
              <a:t>File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480559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- Reads, writes, moves files
- Organises folder structure
- Converts file formats
- Creates backups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3822191"/>
            <a:ext cx="3749039" cy="2468880"/>
          </a:xfrm>
          <a:prstGeom prst="rect">
            <a:avLst/>
          </a:prstGeom>
          <a:solidFill>
            <a:srgbClr val="162B3C"/>
          </a:solidFill>
          <a:ln w="254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220456" y="3822191"/>
            <a:ext cx="3749039" cy="9144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57616" y="39684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6B9D"/>
                </a:solidFill>
                <a:latin typeface="Segoe UI"/>
              </a:rPr>
              <a:t>Custom Business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4480559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- Connect to your internal API
- Access proprietary data
- Automate workflows
- Integrate legacy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MCP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Popular ready-made MCP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8"/>
                </a:solidFill>
                <a:latin typeface="Segoe UI"/>
              </a:rPr>
              <a:t>Anthropic &amp; the community have built hundreds of MCP servers you can use immediately: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64208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20040" y="1664208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Segoe UI"/>
              </a:rPr>
              <a:t>Filesystem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847088"/>
            <a:ext cx="105156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80360" y="184708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Official by Anthropic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Read/write local files
safely with permissions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664208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270248" y="1664208"/>
            <a:ext cx="3749039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07408" y="181051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0568" y="1847088"/>
            <a:ext cx="105156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30568" y="184708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Official by Anthropic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2860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Query a Postgres DB
with read-only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1664208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20456" y="1664208"/>
            <a:ext cx="3749039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57616" y="181051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  <a:latin typeface="Segoe UI"/>
              </a:rPr>
              <a:t>GitHub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0776" y="1847088"/>
            <a:ext cx="1051560" cy="2743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780776" y="184708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Official by Anthropic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22860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Manage repos, issues,
PRs via GitHub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28416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20040" y="3328416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347472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Segoe UI"/>
              </a:rPr>
              <a:t>Brave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511296"/>
            <a:ext cx="105156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80360" y="351129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Community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5020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Search the web using
Brave Search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328416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270248" y="3328416"/>
            <a:ext cx="3749039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07408" y="347472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Segoe UI"/>
              </a:rPr>
              <a:t>Slack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30568" y="3511296"/>
            <a:ext cx="105156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30568" y="351129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Community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95020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Post messages, read
channels, manage threads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0456" y="3328416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220456" y="3328416"/>
            <a:ext cx="3749039" cy="914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57616" y="3474720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  <a:latin typeface="Segoe UI"/>
              </a:rPr>
              <a:t>Puppeteer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80776" y="3511296"/>
            <a:ext cx="1051560" cy="2743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780776" y="351129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Community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3950208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Control a browser:
screenshots, scraping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992624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20040" y="4992624"/>
            <a:ext cx="3749039" cy="9144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513892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77DFF"/>
                </a:solidFill>
                <a:latin typeface="Segoe UI"/>
              </a:rPr>
              <a:t>Notion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5175504"/>
            <a:ext cx="1051560" cy="27432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880360" y="51755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Community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614416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Read/write Notion
pages and databases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70248" y="4992624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4270248" y="4992624"/>
            <a:ext cx="3749039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407408" y="513892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Segoe UI"/>
              </a:rPr>
              <a:t>Google Drive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30568" y="5175504"/>
            <a:ext cx="1051560" cy="2743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30568" y="51755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Community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7408" y="5614416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Access Google Docs,
Sheets, files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0456" y="4992624"/>
            <a:ext cx="3749039" cy="1508760"/>
          </a:xfrm>
          <a:prstGeom prst="rect">
            <a:avLst/>
          </a:prstGeom>
          <a:solidFill>
            <a:srgbClr val="162B3C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220456" y="4992624"/>
            <a:ext cx="3749039" cy="9144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357616" y="513892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9D"/>
                </a:solidFill>
                <a:latin typeface="Segoe UI"/>
              </a:rPr>
              <a:t>SQLite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780776" y="5175504"/>
            <a:ext cx="1051560" cy="2743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780776" y="51755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  <a:latin typeface="Segoe UI"/>
              </a:rPr>
              <a:t>Community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7616" y="5614416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  <a:latin typeface="Segoe UI"/>
              </a:rPr>
              <a:t>Query a local SQLite
database file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Security in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How MCP stays safe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70432"/>
            <a:ext cx="5577840" cy="5349240"/>
          </a:xfrm>
          <a:prstGeom prst="rect">
            <a:avLst/>
          </a:prstGeom>
          <a:solidFill>
            <a:srgbClr val="162B3C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  <a:latin typeface="Segoe UI"/>
              </a:rPr>
              <a:t>Security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4572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013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Segoe UI"/>
              </a:rPr>
              <a:t>User Consent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214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Every tool call requires explicit user approval.
The user controls what the AI can 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4572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279806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69747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Segoe UI"/>
              </a:rPr>
              <a:t>Least 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0175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Servers only get the permissions they need.
Filesystem server can't access the network.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47872"/>
            <a:ext cx="4572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200" y="369417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9359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Segoe UI"/>
              </a:rPr>
              <a:t>Sandboxing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9136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MCP Servers run in isolation.
One server can't access another server.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43983"/>
            <a:ext cx="4572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45902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48970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Segoe UI"/>
              </a:rPr>
              <a:t>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8097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All tool calls are logged.
You can see exactly what the AI did.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40096"/>
            <a:ext cx="4572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3858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Segoe UI"/>
              </a:rPr>
              <a:t>No Secrets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7058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MCP Servers should not store API keys
in responses — keep secrets server-side.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170432"/>
            <a:ext cx="5687568" cy="5349240"/>
          </a:xfrm>
          <a:prstGeom prst="rect">
            <a:avLst/>
          </a:prstGeom>
          <a:solidFill>
            <a:srgbClr val="162B3C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1234440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F1C"/>
                </a:solidFill>
                <a:latin typeface="Segoe UI"/>
              </a:rPr>
              <a:t>Trust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755648"/>
            <a:ext cx="1371600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6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Segoe UI"/>
              </a:rPr>
              <a:t>HOST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18288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Trust Level: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21671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Trusted completely.
You chose to install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898648"/>
            <a:ext cx="1371600" cy="9601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0936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Segoe UI"/>
              </a:rPr>
              <a:t>CLIENT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9718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Trust Level: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3101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Trusted — it's inside
the Host you control.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041648"/>
            <a:ext cx="1371600" cy="9601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0936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Segoe UI"/>
              </a:rPr>
              <a:t>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1148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Segoe UI"/>
              </a:rPr>
              <a:t>Trust Level: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4531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Partially trusted.
User approves each action.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184648"/>
            <a:ext cx="1371600" cy="9601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09360" y="5440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Segoe UI"/>
              </a:rPr>
              <a:t>User 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525780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Segoe UI"/>
              </a:rPr>
              <a:t>Trust Level: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55961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Segoe UI"/>
              </a:rPr>
              <a:t>Prompt injection risk.
Validate all inputs.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Segoe UI"/>
              </a:rPr>
              <a:t>Summary — Everything About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1B2A"/>
                </a:solidFill>
                <a:latin typeface="Segoe UI"/>
              </a:rPr>
              <a:t>What you must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5669280" cy="118872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21207" y="1316736"/>
            <a:ext cx="82296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21207" y="131673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17099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Open standard by Anthropic (Nov 2024) for AI-to-tool communication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07008"/>
            <a:ext cx="5669280" cy="118872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63640" y="1207008"/>
            <a:ext cx="109728" cy="1188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64807" y="1316736"/>
            <a:ext cx="82296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64807" y="131673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7099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Solves the N*M integration problem -- one protocol replaces custom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42032"/>
            <a:ext cx="5669280" cy="1188720"/>
          </a:xfrm>
          <a:prstGeom prst="rect">
            <a:avLst/>
          </a:prstGeom>
          <a:solidFill>
            <a:srgbClr val="162B3C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20040" y="2542032"/>
            <a:ext cx="109728" cy="11887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21207" y="2651760"/>
            <a:ext cx="822960" cy="32918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1207" y="265176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449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Host &gt; Client &gt; Server. Transport: stdio (local) or HTTP+SSE (remote)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542032"/>
            <a:ext cx="5669280" cy="1188720"/>
          </a:xfrm>
          <a:prstGeom prst="rect">
            <a:avLst/>
          </a:prstGeom>
          <a:solidFill>
            <a:srgbClr val="162B3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263640" y="2542032"/>
            <a:ext cx="109728" cy="1188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64807" y="2651760"/>
            <a:ext cx="822960" cy="32918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64807" y="265176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Capabilities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0449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Tools (do), Resources (read), Prompts (templates)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77056"/>
            <a:ext cx="5669280" cy="1188720"/>
          </a:xfrm>
          <a:prstGeom prst="rect">
            <a:avLst/>
          </a:prstGeom>
          <a:solidFill>
            <a:srgbClr val="162B3C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320040" y="3877056"/>
            <a:ext cx="109728" cy="118872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21207" y="3986784"/>
            <a:ext cx="822960" cy="329184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21207" y="39867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Lifecycle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" y="437997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Initialize &gt; Discover &gt; Operate &gt; Shutdown. Uses JSON-RPC 2.0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77056"/>
            <a:ext cx="5669280" cy="1188720"/>
          </a:xfrm>
          <a:prstGeom prst="rect">
            <a:avLst/>
          </a:prstGeom>
          <a:solidFill>
            <a:srgbClr val="162B3C"/>
          </a:solidFill>
          <a:ln w="2540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63640" y="3877056"/>
            <a:ext cx="109728" cy="1188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464807" y="3986784"/>
            <a:ext cx="822960" cy="32918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64807" y="39867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vs Fn Calling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437997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MCP is reusable &amp; standard. Function calling is app-specific.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212080"/>
            <a:ext cx="5669280" cy="1188720"/>
          </a:xfrm>
          <a:prstGeom prst="rect">
            <a:avLst/>
          </a:prstGeom>
          <a:solidFill>
            <a:srgbClr val="162B3C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20040" y="5212080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21207" y="5321808"/>
            <a:ext cx="82296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21207" y="532180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" y="5715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User consent, least privilege, sandboxing, audit trail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212080"/>
            <a:ext cx="5669280" cy="1188720"/>
          </a:xfrm>
          <a:prstGeom prst="rect">
            <a:avLst/>
          </a:prstGeom>
          <a:solidFill>
            <a:srgbClr val="162B3C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263640" y="5212080"/>
            <a:ext cx="109728" cy="1188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464807" y="5321808"/>
            <a:ext cx="822960" cy="3291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64807" y="532180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Segoe UI"/>
              </a:rPr>
              <a:t>Ecosystem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7" y="5715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Segoe UI"/>
              </a:rPr>
              <a:t>Hundreds of ready servers: GitHub, Postgres, Slack, Filesystem...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446520"/>
            <a:ext cx="115214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57200" y="64648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Segoe UI"/>
              </a:rPr>
              <a:t>MCP = The universal language between AI and the world.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5004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C4D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