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Segoe UI"/>
              </a:rPr>
              <a:t>Model Context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06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0B4D8"/>
                </a:solidFill>
                <a:latin typeface="Segoe UI"/>
              </a:rPr>
              <a:t>(MCP)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3383280"/>
            <a:ext cx="5760720" cy="4572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35204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B0C4D8"/>
                </a:solidFill>
                <a:latin typeface="Segoe UI"/>
              </a:rPr>
              <a:t>What is MCP  ·  Why We Need It  · 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9F1C"/>
                </a:solidFill>
                <a:latin typeface="Segoe UI"/>
              </a:rPr>
              <a:t>Study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D1B2A"/>
                </a:solidFill>
                <a:latin typeface="Segoe UI"/>
              </a:rPr>
              <a:t>What is MCP?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D1B2A"/>
                </a:solidFill>
                <a:latin typeface="Segoe UI"/>
              </a:rPr>
              <a:t>Model Context Protocol — a quick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11430000" cy="1143000"/>
          </a:xfrm>
          <a:prstGeom prst="rect">
            <a:avLst/>
          </a:prstGeom>
          <a:solidFill>
            <a:srgbClr val="162B3C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Segoe UI"/>
              </a:rPr>
              <a:t>MCP (Model Context Protocol) is an open standard created by Anthropic
that lets AI models talk to external tools, files, databases &amp; services.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560320"/>
            <a:ext cx="3657600" cy="2194560"/>
          </a:xfrm>
          <a:prstGeom prst="rect">
            <a:avLst/>
          </a:prstGeom>
          <a:solidFill>
            <a:srgbClr val="162B3C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02920" y="26974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4D8"/>
                </a:solidFill>
                <a:latin typeface="Segoe UI"/>
              </a:rPr>
              <a:t>📡  Open Standard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20040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C4D8"/>
                </a:solidFill>
                <a:latin typeface="Segoe UI"/>
              </a:rPr>
              <a:t>A universal protocol — like HTTP but for AI integrations.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2560320"/>
            <a:ext cx="3657600" cy="2194560"/>
          </a:xfrm>
          <a:prstGeom prst="rect">
            <a:avLst/>
          </a:prstGeom>
          <a:solidFill>
            <a:srgbClr val="162B3C"/>
          </a:solidFill>
          <a:ln w="2540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434840" y="26974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9F1C"/>
                </a:solidFill>
                <a:latin typeface="Segoe UI"/>
              </a:rPr>
              <a:t>🔌  Plug &amp; Play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320040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C4D8"/>
                </a:solidFill>
                <a:latin typeface="Segoe UI"/>
              </a:rPr>
              <a:t>Connect any AI app to any tool with one standard interface.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2560320"/>
            <a:ext cx="3657600" cy="2194560"/>
          </a:xfrm>
          <a:prstGeom prst="rect">
            <a:avLst/>
          </a:prstGeom>
          <a:solidFill>
            <a:srgbClr val="162B3C"/>
          </a:solidFill>
          <a:ln w="254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366760" y="26974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6D6A0"/>
                </a:solidFill>
                <a:latin typeface="Segoe UI"/>
              </a:rPr>
              <a:t>🤖  AI Superpower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20040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C4D8"/>
                </a:solidFill>
                <a:latin typeface="Segoe UI"/>
              </a:rPr>
              <a:t>Gives AI real-world awareness: files, APIs, databases &amp; more.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1430000" cy="822960"/>
          </a:xfrm>
          <a:prstGeom prst="rect">
            <a:avLst/>
          </a:prstGeom>
          <a:solidFill>
            <a:srgbClr val="0F2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48640" y="493776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6D6A0"/>
                </a:solidFill>
                <a:latin typeface="Segoe UI"/>
              </a:rPr>
              <a:t>💡  Analogy: MCP is the USB-C port of AI — one standard connector for everything, instead of a different cable for every device.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95760" y="649224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0C4D8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D1B2A"/>
                </a:solidFill>
                <a:latin typeface="Segoe UI"/>
              </a:rPr>
              <a:t>The Problem Before MCP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D1B2A"/>
                </a:solidFill>
                <a:latin typeface="Segoe UI"/>
              </a:rPr>
              <a:t>Why AI felt limited without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5394960" cy="5212080"/>
          </a:xfrm>
          <a:prstGeom prst="rect">
            <a:avLst/>
          </a:prstGeom>
          <a:solidFill>
            <a:srgbClr val="162B3C"/>
          </a:solidFill>
          <a:ln w="19050">
            <a:solidFill>
              <a:srgbClr val="FF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5C5C"/>
                </a:solidFill>
                <a:latin typeface="Segoe UI"/>
              </a:rPr>
              <a:t>❌  Before MCP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74519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5C5C"/>
                </a:solidFill>
                <a:latin typeface="Segoe UI"/>
              </a:rPr>
              <a:t>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74519"/>
            <a:ext cx="4709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C4D8"/>
                </a:solidFill>
                <a:latin typeface="Segoe UI"/>
              </a:rPr>
              <a:t>AI models were isolated — no access to files or internet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50008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5C5C"/>
                </a:solidFill>
                <a:latin typeface="Segoe UI"/>
              </a:rPr>
              <a:t>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50008"/>
            <a:ext cx="4709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C4D8"/>
                </a:solidFill>
                <a:latin typeface="Segoe UI"/>
              </a:rPr>
              <a:t>Every tool needed its own custom integration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25496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5C5C"/>
                </a:solidFill>
                <a:latin typeface="Segoe UI"/>
              </a:rPr>
              <a:t>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25496"/>
            <a:ext cx="4709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C4D8"/>
                </a:solidFill>
                <a:latin typeface="Segoe UI"/>
              </a:rPr>
              <a:t>No shared standard → each team reinvented the wheel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300984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5C5C"/>
                </a:solidFill>
                <a:latin typeface="Segoe UI"/>
              </a:rPr>
              <a:t>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300984"/>
            <a:ext cx="4709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C4D8"/>
                </a:solidFill>
                <a:latin typeface="Segoe UI"/>
              </a:rPr>
              <a:t>Hard to maintain &amp; scale across many tools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776472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5C5C"/>
                </a:solidFill>
                <a:latin typeface="Segoe UI"/>
              </a:rPr>
              <a:t>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776472"/>
            <a:ext cx="4709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C4D8"/>
                </a:solidFill>
                <a:latin typeface="Segoe UI"/>
              </a:rPr>
              <a:t>AI answers were limited to training data only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1234440"/>
            <a:ext cx="5394960" cy="5212080"/>
          </a:xfrm>
          <a:prstGeom prst="rect">
            <a:avLst/>
          </a:prstGeom>
          <a:solidFill>
            <a:srgbClr val="162B3C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675120" y="1325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6D6A0"/>
                </a:solidFill>
                <a:latin typeface="Segoe UI"/>
              </a:rPr>
              <a:t>✅  With MCP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1874519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D6A0"/>
                </a:solidFill>
                <a:latin typeface="Segoe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59" y="1874519"/>
            <a:ext cx="4709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C4D8"/>
                </a:solidFill>
                <a:latin typeface="Segoe UI"/>
              </a:rPr>
              <a:t>AI connects to any tool via one standard protocol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350008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D6A0"/>
                </a:solidFill>
                <a:latin typeface="Segoe U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59" y="2350008"/>
            <a:ext cx="4709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C4D8"/>
                </a:solidFill>
                <a:latin typeface="Segoe UI"/>
              </a:rPr>
              <a:t>Build a server once → reuse across any AI app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2825496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D6A0"/>
                </a:solidFill>
                <a:latin typeface="Segoe U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59" y="2825496"/>
            <a:ext cx="4709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C4D8"/>
                </a:solidFill>
                <a:latin typeface="Segoe UI"/>
              </a:rPr>
              <a:t>Consistent interface for tools, files &amp; databases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3300984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D6A0"/>
                </a:solidFill>
                <a:latin typeface="Segoe U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59" y="3300984"/>
            <a:ext cx="4709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C4D8"/>
                </a:solidFill>
                <a:latin typeface="Segoe UI"/>
              </a:rPr>
              <a:t>Easy to add new capabilities without rewriting code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3776472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D6A0"/>
                </a:solidFill>
                <a:latin typeface="Segoe U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5159" y="3776472"/>
            <a:ext cx="4709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C4D8"/>
                </a:solidFill>
                <a:latin typeface="Segoe UI"/>
              </a:rPr>
              <a:t>AI becomes truly context-aware &amp; useful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77840" y="347472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9F1C"/>
                </a:solidFill>
                <a:latin typeface="Segoe UI"/>
              </a:rPr>
              <a:t>VS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95760" y="649224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0C4D8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D1B2A"/>
                </a:solidFill>
                <a:latin typeface="Segoe UI"/>
              </a:rPr>
              <a:t>Why Do We Need MCP?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D1B2A"/>
                </a:solidFill>
                <a:latin typeface="Segoe UI"/>
              </a:rPr>
              <a:t>6 key reasons MCP matters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25880"/>
            <a:ext cx="3749039" cy="2103120"/>
          </a:xfrm>
          <a:prstGeom prst="rect">
            <a:avLst/>
          </a:prstGeom>
          <a:solidFill>
            <a:srgbClr val="162B3C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3749039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29768" y="15087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  <a:latin typeface="Segoe UI"/>
              </a:rPr>
              <a:t>1. Standardisation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201168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  <a:latin typeface="Segoe UI"/>
              </a:rPr>
              <a:t>One protocol for all AI ↔ tool communication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59" y="1325880"/>
            <a:ext cx="3749039" cy="2103120"/>
          </a:xfrm>
          <a:prstGeom prst="rect">
            <a:avLst/>
          </a:prstGeom>
          <a:solidFill>
            <a:srgbClr val="162B3C"/>
          </a:solidFill>
          <a:ln w="2540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4251959" y="1325880"/>
            <a:ext cx="3749039" cy="109728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361688" y="15087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9F1C"/>
                </a:solidFill>
                <a:latin typeface="Segoe UI"/>
              </a:rPr>
              <a:t>2. Reusability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61688" y="201168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  <a:latin typeface="Segoe UI"/>
              </a:rPr>
              <a:t>Write a server once, use it with any AI host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83879" y="1325880"/>
            <a:ext cx="3749039" cy="2103120"/>
          </a:xfrm>
          <a:prstGeom prst="rect">
            <a:avLst/>
          </a:prstGeom>
          <a:solidFill>
            <a:srgbClr val="162B3C"/>
          </a:solidFill>
          <a:ln w="254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8183879" y="1325880"/>
            <a:ext cx="3749039" cy="10972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293607" y="15087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D6A0"/>
                </a:solidFill>
                <a:latin typeface="Segoe UI"/>
              </a:rPr>
              <a:t>3. Real-world Access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7" y="201168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  <a:latin typeface="Segoe UI"/>
              </a:rPr>
              <a:t>Let AI read files, query DBs, call APIs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703320"/>
            <a:ext cx="3749039" cy="2103120"/>
          </a:xfrm>
          <a:prstGeom prst="rect">
            <a:avLst/>
          </a:prstGeom>
          <a:solidFill>
            <a:srgbClr val="162B3C"/>
          </a:solidFill>
          <a:ln w="2540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320040" y="3703320"/>
            <a:ext cx="3749039" cy="10972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29768" y="38862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166"/>
                </a:solidFill>
                <a:latin typeface="Segoe UI"/>
              </a:rPr>
              <a:t>4. Less Code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438912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  <a:latin typeface="Segoe UI"/>
              </a:rPr>
              <a:t>No more custom glue code for every integration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59" y="3703320"/>
            <a:ext cx="3749039" cy="2103120"/>
          </a:xfrm>
          <a:prstGeom prst="rect">
            <a:avLst/>
          </a:prstGeom>
          <a:solidFill>
            <a:srgbClr val="162B3C"/>
          </a:solidFill>
          <a:ln w="25400">
            <a:solidFill>
              <a:srgbClr val="C7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4251959" y="3703320"/>
            <a:ext cx="3749039" cy="109728"/>
          </a:xfrm>
          <a:prstGeom prst="rect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361688" y="38862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77DFF"/>
                </a:solidFill>
                <a:latin typeface="Segoe UI"/>
              </a:rPr>
              <a:t>5. Scalability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61688" y="438912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  <a:latin typeface="Segoe UI"/>
              </a:rPr>
              <a:t>Easily add new tools without breaking existing ones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83879" y="3703320"/>
            <a:ext cx="3749039" cy="2103120"/>
          </a:xfrm>
          <a:prstGeom prst="rect">
            <a:avLst/>
          </a:prstGeom>
          <a:solidFill>
            <a:srgbClr val="162B3C"/>
          </a:solidFill>
          <a:ln w="2540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8183879" y="3703320"/>
            <a:ext cx="3749039" cy="109728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293607" y="38862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6B9D"/>
                </a:solidFill>
                <a:latin typeface="Segoe UI"/>
              </a:rPr>
              <a:t>6. Ecosystem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3607" y="438912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  <a:latin typeface="Segoe UI"/>
              </a:rPr>
              <a:t>Community servers → thousands of ready-made tools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795760" y="649224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0C4D8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D1B2A"/>
                </a:solidFill>
                <a:latin typeface="Segoe UI"/>
              </a:rPr>
              <a:t>MCP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D1B2A"/>
                </a:solidFill>
                <a:latin typeface="Segoe UI"/>
              </a:rPr>
              <a:t>The three-layer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11612880" cy="1645920"/>
          </a:xfrm>
          <a:prstGeom prst="rect">
            <a:avLst/>
          </a:prstGeom>
          <a:solidFill>
            <a:srgbClr val="0A2538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11480" y="13258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Segoe UI"/>
              </a:rPr>
              <a:t>HOST  (e.g. Claude Desktop, VS Code, Cursor)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83080"/>
            <a:ext cx="3474720" cy="868680"/>
          </a:xfrm>
          <a:prstGeom prst="rect">
            <a:avLst/>
          </a:prstGeom>
          <a:solidFill>
            <a:srgbClr val="1A3A52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MCP Client 1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783080"/>
            <a:ext cx="3474720" cy="868680"/>
          </a:xfrm>
          <a:prstGeom prst="rect">
            <a:avLst/>
          </a:prstGeom>
          <a:solidFill>
            <a:srgbClr val="1A3A52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206240" y="19202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MCP Client 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79" y="1783080"/>
            <a:ext cx="3474720" cy="868680"/>
          </a:xfrm>
          <a:prstGeom prst="rect">
            <a:avLst/>
          </a:prstGeom>
          <a:solidFill>
            <a:srgbClr val="1A3A52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955279" y="19202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MCP Client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3017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FF9F1C"/>
                </a:solidFill>
                <a:latin typeface="Segoe UI"/>
              </a:rPr>
              <a:t>◄──  Transport Layer  ──►   (stdio  |  HTTP + SSE)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429000"/>
            <a:ext cx="3474720" cy="1371600"/>
          </a:xfrm>
          <a:prstGeom prst="rect">
            <a:avLst/>
          </a:prstGeom>
          <a:solidFill>
            <a:srgbClr val="162B3C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57200" y="3429000"/>
            <a:ext cx="3474720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57200" y="358444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4D8"/>
                </a:solidFill>
                <a:latin typeface="Segoe UI"/>
              </a:rPr>
              <a:t>MCP Server 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041648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4D8"/>
                </a:solidFill>
                <a:latin typeface="Segoe UI"/>
              </a:rPr>
              <a:t>File System
Tool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3429000"/>
            <a:ext cx="3474720" cy="1371600"/>
          </a:xfrm>
          <a:prstGeom prst="rect">
            <a:avLst/>
          </a:prstGeom>
          <a:solidFill>
            <a:srgbClr val="162B3C"/>
          </a:solidFill>
          <a:ln w="254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4206240" y="3429000"/>
            <a:ext cx="3474720" cy="10972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206240" y="358444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6D6A0"/>
                </a:solidFill>
                <a:latin typeface="Segoe UI"/>
              </a:rPr>
              <a:t>MCP Server 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4041648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4D8"/>
                </a:solidFill>
                <a:latin typeface="Segoe UI"/>
              </a:rPr>
              <a:t>Database
Tool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55279" y="3429000"/>
            <a:ext cx="3474720" cy="1371600"/>
          </a:xfrm>
          <a:prstGeom prst="rect">
            <a:avLst/>
          </a:prstGeom>
          <a:solidFill>
            <a:srgbClr val="162B3C"/>
          </a:solidFill>
          <a:ln w="2540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7955279" y="3429000"/>
            <a:ext cx="3474720" cy="109728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955279" y="358444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9F1C"/>
                </a:solidFill>
                <a:latin typeface="Segoe UI"/>
              </a:rPr>
              <a:t>MCP Server 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4041648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4D8"/>
                </a:solidFill>
                <a:latin typeface="Segoe UI"/>
              </a:rPr>
              <a:t>Web Search
Tool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937760"/>
            <a:ext cx="3474720" cy="914400"/>
          </a:xfrm>
          <a:prstGeom prst="rect">
            <a:avLst/>
          </a:prstGeom>
          <a:solidFill>
            <a:srgbClr val="0A1F2E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57200" y="5047488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B4D8"/>
                </a:solidFill>
                <a:latin typeface="Segoe UI"/>
              </a:rPr>
              <a:t>📄  Resources
(Files, DB rows)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06240" y="4937760"/>
            <a:ext cx="3474720" cy="914400"/>
          </a:xfrm>
          <a:prstGeom prst="rect">
            <a:avLst/>
          </a:prstGeom>
          <a:solidFill>
            <a:srgbClr val="0A1F2E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206240" y="5047488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6D6A0"/>
                </a:solidFill>
                <a:latin typeface="Segoe UI"/>
              </a:rPr>
              <a:t>🔧  Tools
(Run functions)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55279" y="4937760"/>
            <a:ext cx="3474720" cy="914400"/>
          </a:xfrm>
          <a:prstGeom prst="rect">
            <a:avLst/>
          </a:prstGeom>
          <a:solidFill>
            <a:srgbClr val="0A1F2E"/>
          </a:solidFill>
          <a:ln w="1270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955279" y="5047488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9F1C"/>
                </a:solidFill>
                <a:latin typeface="Segoe UI"/>
              </a:rPr>
              <a:t>📝  Prompts
(Templates)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795760" y="649224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0C4D8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D1B2A"/>
                </a:solidFill>
                <a:latin typeface="Segoe UI"/>
              </a:rPr>
              <a:t>MCP Components —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D1B2A"/>
                </a:solidFill>
                <a:latin typeface="Segoe UI"/>
              </a:rPr>
              <a:t>What each part does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25880"/>
            <a:ext cx="5669280" cy="2423160"/>
          </a:xfrm>
          <a:prstGeom prst="rect">
            <a:avLst/>
          </a:prstGeom>
          <a:solidFill>
            <a:srgbClr val="162B3C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5669280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149047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  <a:latin typeface="Segoe UI"/>
              </a:rPr>
              <a:t>🖥  Host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84248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  <a:latin typeface="Segoe UI"/>
              </a:rPr>
              <a:t>The AI application that the user interacts with.
Examples: Claude Desktop, VS Code with Copilot, Cursor IDE.
It contains one or more MCP Clients.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325880"/>
            <a:ext cx="5669280" cy="2423160"/>
          </a:xfrm>
          <a:prstGeom prst="rect">
            <a:avLst/>
          </a:prstGeom>
          <a:solidFill>
            <a:srgbClr val="162B3C"/>
          </a:solidFill>
          <a:ln w="2540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6263640" y="1325880"/>
            <a:ext cx="5669280" cy="109728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00800" y="149047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9F1C"/>
                </a:solidFill>
                <a:latin typeface="Segoe UI"/>
              </a:rPr>
              <a:t>🔗  Client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84248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  <a:latin typeface="Segoe UI"/>
              </a:rPr>
              <a:t>Lives inside the Host. Manages the connection to an MCP Server.
Sends requests (tool calls, resource reads) and receives responses.
One client ↔ one server.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977639"/>
            <a:ext cx="5669280" cy="2423160"/>
          </a:xfrm>
          <a:prstGeom prst="rect">
            <a:avLst/>
          </a:prstGeom>
          <a:solidFill>
            <a:srgbClr val="162B3C"/>
          </a:solidFill>
          <a:ln w="254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320040" y="3977639"/>
            <a:ext cx="5669280" cy="10972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57200" y="4142231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6D6A0"/>
                </a:solidFill>
                <a:latin typeface="Segoe UI"/>
              </a:rPr>
              <a:t>⚙  Server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636007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  <a:latin typeface="Segoe UI"/>
              </a:rPr>
              <a:t>A lightweight program that exposes capabilities to the AI.
Can provide Tools (actions), Resources (data), or Prompts (templates).
You build this to connect AI to your custom system.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3977639"/>
            <a:ext cx="5669280" cy="2423160"/>
          </a:xfrm>
          <a:prstGeom prst="rect">
            <a:avLst/>
          </a:prstGeom>
          <a:solidFill>
            <a:srgbClr val="162B3C"/>
          </a:solidFill>
          <a:ln w="2540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263640" y="3977639"/>
            <a:ext cx="5669280" cy="10972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400800" y="4142231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D166"/>
                </a:solidFill>
                <a:latin typeface="Segoe UI"/>
              </a:rPr>
              <a:t>📡  Transport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636007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  <a:latin typeface="Segoe UI"/>
              </a:rPr>
              <a:t>How Client and Server communicate:
• stdio — local process communication (simple)
• HTTP + SSE — network communication (remote servers)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95760" y="649224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0C4D8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D1B2A"/>
                </a:solidFill>
                <a:latin typeface="Segoe UI"/>
              </a:rPr>
              <a:t>How MCP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D1B2A"/>
                </a:solidFill>
                <a:latin typeface="Segoe UI"/>
              </a:rPr>
              <a:t>Step-by-step communication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25880"/>
            <a:ext cx="2103120" cy="2926080"/>
          </a:xfrm>
          <a:prstGeom prst="rect">
            <a:avLst/>
          </a:prstGeom>
          <a:solidFill>
            <a:srgbClr val="162B3C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1078992" y="1463039"/>
            <a:ext cx="585216" cy="58521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78992" y="1490472"/>
            <a:ext cx="5852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B2A"/>
                </a:solidFill>
                <a:latin typeface="Sego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2167128"/>
            <a:ext cx="19202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4D8"/>
                </a:solidFill>
                <a:latin typeface="Segoe UI"/>
              </a:rPr>
              <a:t>User asks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2697480"/>
            <a:ext cx="1920239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8"/>
                </a:solidFill>
                <a:latin typeface="Segoe UI"/>
              </a:rPr>
              <a:t>User types a question in the Host app
(e.g. "Summarise my notes.txt")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04872" y="2606039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B4D8"/>
                </a:solidFill>
                <a:latin typeface="Segoe UI"/>
              </a:rPr>
              <a:t>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0" y="1325880"/>
            <a:ext cx="2103120" cy="2926080"/>
          </a:xfrm>
          <a:prstGeom prst="rect">
            <a:avLst/>
          </a:prstGeom>
          <a:solidFill>
            <a:srgbClr val="162B3C"/>
          </a:solidFill>
          <a:ln w="2540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319272" y="1463039"/>
            <a:ext cx="585216" cy="585216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319272" y="1490472"/>
            <a:ext cx="5852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B2A"/>
                </a:solidFill>
                <a:latin typeface="Segoe U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2167128"/>
            <a:ext cx="19202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9F1C"/>
                </a:solidFill>
                <a:latin typeface="Segoe UI"/>
              </a:rPr>
              <a:t>AI decides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2697480"/>
            <a:ext cx="1920239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8"/>
                </a:solidFill>
                <a:latin typeface="Segoe UI"/>
              </a:rPr>
              <a:t>AI figures out it needs an external tool
or resource to answer the question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1" y="2606039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B4D8"/>
                </a:solidFill>
                <a:latin typeface="Segoe UI"/>
              </a:rPr>
              <a:t>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00599" y="1325880"/>
            <a:ext cx="2103120" cy="2926080"/>
          </a:xfrm>
          <a:prstGeom prst="rect">
            <a:avLst/>
          </a:prstGeom>
          <a:solidFill>
            <a:srgbClr val="162B3C"/>
          </a:solidFill>
          <a:ln w="254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559551" y="1463039"/>
            <a:ext cx="585216" cy="58521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559551" y="1490472"/>
            <a:ext cx="5852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B2A"/>
                </a:solidFill>
                <a:latin typeface="Segoe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39" y="2167128"/>
            <a:ext cx="19202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D6A0"/>
                </a:solidFill>
                <a:latin typeface="Segoe UI"/>
              </a:rPr>
              <a:t>Client calls Server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39" y="2697480"/>
            <a:ext cx="1920239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8"/>
                </a:solidFill>
                <a:latin typeface="Segoe UI"/>
              </a:rPr>
              <a:t>MCP Client sends a request to the
appropriate MCP Server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85431" y="2606039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B4D8"/>
                </a:solidFill>
                <a:latin typeface="Segoe UI"/>
              </a:rPr>
              <a:t>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40879" y="1325880"/>
            <a:ext cx="2103120" cy="2926080"/>
          </a:xfrm>
          <a:prstGeom prst="rect">
            <a:avLst/>
          </a:prstGeom>
          <a:solidFill>
            <a:srgbClr val="162B3C"/>
          </a:solidFill>
          <a:ln w="2540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7799831" y="1463039"/>
            <a:ext cx="585216" cy="585216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799831" y="1490472"/>
            <a:ext cx="5852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B2A"/>
                </a:solidFill>
                <a:latin typeface="Segoe U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19" y="2167128"/>
            <a:ext cx="19202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D166"/>
                </a:solidFill>
                <a:latin typeface="Segoe UI"/>
              </a:rPr>
              <a:t>Server responds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19" y="2697480"/>
            <a:ext cx="1920239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8"/>
                </a:solidFill>
                <a:latin typeface="Segoe UI"/>
              </a:rPr>
              <a:t>Server fetches the file / runs the function
and sends the result back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25711" y="2606039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B4D8"/>
                </a:solidFill>
                <a:latin typeface="Segoe UI"/>
              </a:rPr>
              <a:t>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281159" y="1325880"/>
            <a:ext cx="2103120" cy="2926080"/>
          </a:xfrm>
          <a:prstGeom prst="rect">
            <a:avLst/>
          </a:prstGeom>
          <a:solidFill>
            <a:srgbClr val="162B3C"/>
          </a:solidFill>
          <a:ln w="25400">
            <a:solidFill>
              <a:srgbClr val="C7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10040111" y="1463039"/>
            <a:ext cx="585216" cy="585216"/>
          </a:xfrm>
          <a:prstGeom prst="rect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0040111" y="1490472"/>
            <a:ext cx="5852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B2A"/>
                </a:solidFill>
                <a:latin typeface="Segoe U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72599" y="2167128"/>
            <a:ext cx="19202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77DFF"/>
                </a:solidFill>
                <a:latin typeface="Segoe UI"/>
              </a:rPr>
              <a:t>AI answers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72599" y="2697480"/>
            <a:ext cx="1920239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8"/>
                </a:solidFill>
                <a:latin typeface="Segoe UI"/>
              </a:rPr>
              <a:t>AI uses the result to give a
full, accurate answer to the user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95760" y="649224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0C4D8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D1B2A"/>
                </a:solidFill>
                <a:latin typeface="Segoe UI"/>
              </a:rPr>
              <a:t>Key MCP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D1B2A"/>
                </a:solidFill>
                <a:latin typeface="Segoe UI"/>
              </a:rPr>
              <a:t>The three things an MCP Server can expose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80160"/>
            <a:ext cx="3749039" cy="5120640"/>
          </a:xfrm>
          <a:prstGeom prst="rect">
            <a:avLst/>
          </a:prstGeom>
          <a:solidFill>
            <a:srgbClr val="162B3C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320040" y="1280160"/>
            <a:ext cx="3749039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B4D8"/>
                </a:solidFill>
                <a:latin typeface="Segoe UI"/>
              </a:rPr>
              <a:t>🔧  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0C4D8"/>
                </a:solidFill>
                <a:latin typeface="Segoe UI"/>
              </a:rPr>
              <a:t>Functions the AI can CALL to do something.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514600"/>
            <a:ext cx="347472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7200" y="26060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Segoe UI"/>
              </a:rPr>
              <a:t>Examples: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301752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Segoe UI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19" y="301752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8"/>
                </a:solidFill>
                <a:latin typeface="Segoe UI"/>
              </a:rPr>
              <a:t>Search the web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342900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Segoe UI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19" y="342900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8"/>
                </a:solidFill>
                <a:latin typeface="Segoe UI"/>
              </a:rPr>
              <a:t>Send an email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384048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Segoe UI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19" y="384048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8"/>
                </a:solidFill>
                <a:latin typeface="Segoe UI"/>
              </a:rPr>
              <a:t>Write to a file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79" y="425196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Segoe UI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19" y="425196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8"/>
                </a:solidFill>
                <a:latin typeface="Segoe UI"/>
              </a:rPr>
              <a:t>Run a database query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79" y="466344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Segoe UI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19" y="466344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8"/>
                </a:solidFill>
                <a:latin typeface="Segoe UI"/>
              </a:rPr>
              <a:t>Call an external API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59" y="1280160"/>
            <a:ext cx="3749039" cy="5120640"/>
          </a:xfrm>
          <a:prstGeom prst="rect">
            <a:avLst/>
          </a:prstGeom>
          <a:solidFill>
            <a:srgbClr val="162B3C"/>
          </a:solidFill>
          <a:ln w="254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4251959" y="1280160"/>
            <a:ext cx="3749039" cy="10972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389120" y="141732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6D6A0"/>
                </a:solidFill>
                <a:latin typeface="Segoe UI"/>
              </a:rPr>
              <a:t>📄  Resources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196596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0C4D8"/>
                </a:solidFill>
                <a:latin typeface="Segoe UI"/>
              </a:rPr>
              <a:t>Data the AI can READ (like files or DB rows).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0" y="2514600"/>
            <a:ext cx="3474720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4389120" y="26060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A0"/>
                </a:solidFill>
                <a:latin typeface="Segoe UI"/>
              </a:rPr>
              <a:t>Examples: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399" y="301752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A0"/>
                </a:solidFill>
                <a:latin typeface="Segoe UI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39" y="301752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8"/>
                </a:solidFill>
                <a:latin typeface="Segoe UI"/>
              </a:rPr>
              <a:t>Read a text file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399" y="342900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A0"/>
                </a:solidFill>
                <a:latin typeface="Segoe UI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39" y="342900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8"/>
                </a:solidFill>
                <a:latin typeface="Segoe UI"/>
              </a:rPr>
              <a:t>Get a webpage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43399" y="384048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A0"/>
                </a:solidFill>
                <a:latin typeface="Segoe UI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39" y="384048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8"/>
                </a:solidFill>
                <a:latin typeface="Segoe UI"/>
              </a:rPr>
              <a:t>Fetch DB records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43399" y="425196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A0"/>
                </a:solidFill>
                <a:latin typeface="Segoe UI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39" y="425196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8"/>
                </a:solidFill>
                <a:latin typeface="Segoe UI"/>
              </a:rPr>
              <a:t>Read config settings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399" y="466344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A0"/>
                </a:solidFill>
                <a:latin typeface="Segoe UI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39" y="466344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8"/>
                </a:solidFill>
                <a:latin typeface="Segoe UI"/>
              </a:rPr>
              <a:t>Access logs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83879" y="1280160"/>
            <a:ext cx="3749039" cy="5120640"/>
          </a:xfrm>
          <a:prstGeom prst="rect">
            <a:avLst/>
          </a:prstGeom>
          <a:solidFill>
            <a:srgbClr val="162B3C"/>
          </a:solidFill>
          <a:ln w="2540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8183879" y="1280160"/>
            <a:ext cx="3749039" cy="109728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8321040" y="141732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9F1C"/>
                </a:solidFill>
                <a:latin typeface="Segoe UI"/>
              </a:rPr>
              <a:t>📝  Prompts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196596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0C4D8"/>
                </a:solidFill>
                <a:latin typeface="Segoe UI"/>
              </a:rPr>
              <a:t>Pre-built prompt templates for common tasks.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321040" y="2514600"/>
            <a:ext cx="3474720" cy="36576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321040" y="26060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F1C"/>
                </a:solidFill>
                <a:latin typeface="Segoe UI"/>
              </a:rPr>
              <a:t>Examples: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75319" y="301752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F1C"/>
                </a:solidFill>
                <a:latin typeface="Segoe UI"/>
              </a:rPr>
              <a:t>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95359" y="301752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8"/>
                </a:solidFill>
                <a:latin typeface="Segoe UI"/>
              </a:rPr>
              <a:t>Code review template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75319" y="342900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F1C"/>
                </a:solidFill>
                <a:latin typeface="Segoe UI"/>
              </a:rPr>
              <a:t>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95359" y="342900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8"/>
                </a:solidFill>
                <a:latin typeface="Segoe UI"/>
              </a:rPr>
              <a:t>Summary prompt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75319" y="384048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F1C"/>
                </a:solidFill>
                <a:latin typeface="Segoe UI"/>
              </a:rPr>
              <a:t>•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95359" y="384048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8"/>
                </a:solidFill>
                <a:latin typeface="Segoe UI"/>
              </a:rPr>
              <a:t>Bug report format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75319" y="425196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F1C"/>
                </a:solidFill>
                <a:latin typeface="Segoe UI"/>
              </a:rPr>
              <a:t>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95359" y="425196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8"/>
                </a:solidFill>
                <a:latin typeface="Segoe UI"/>
              </a:rPr>
              <a:t>Meeting notes template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795760" y="649224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0C4D8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D1B2A"/>
                </a:solidFill>
                <a:latin typeface="Segoe U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D1B2A"/>
                </a:solidFill>
                <a:latin typeface="Segoe UI"/>
              </a:rPr>
              <a:t>What you should remember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71600"/>
            <a:ext cx="5669280" cy="1371600"/>
          </a:xfrm>
          <a:prstGeom prst="rect">
            <a:avLst/>
          </a:prstGeom>
          <a:solidFill>
            <a:srgbClr val="162B3C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109728" cy="1371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48132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  <a:latin typeface="Segoe UI"/>
              </a:rPr>
              <a:t>MCP = Standard bridge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  <a:latin typeface="Segoe UI"/>
              </a:rPr>
              <a:t>Connects AI models to external tools, files &amp; services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371600"/>
            <a:ext cx="5669280" cy="1371600"/>
          </a:xfrm>
          <a:prstGeom prst="rect">
            <a:avLst/>
          </a:prstGeom>
          <a:solidFill>
            <a:srgbClr val="162B3C"/>
          </a:solidFill>
          <a:ln w="2540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6263640" y="1371600"/>
            <a:ext cx="109728" cy="137160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2240" y="148132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9F1C"/>
                </a:solidFill>
                <a:latin typeface="Segoe UI"/>
              </a:rPr>
              <a:t>3 Core Components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92024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  <a:latin typeface="Segoe UI"/>
              </a:rPr>
              <a:t>Host  →  Client  →  Server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971800"/>
            <a:ext cx="5669280" cy="1371600"/>
          </a:xfrm>
          <a:prstGeom prst="rect">
            <a:avLst/>
          </a:prstGeom>
          <a:solidFill>
            <a:srgbClr val="162B3C"/>
          </a:solidFill>
          <a:ln w="254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320040" y="2971800"/>
            <a:ext cx="109728" cy="13716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48640" y="308152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D6A0"/>
                </a:solidFill>
                <a:latin typeface="Segoe UI"/>
              </a:rPr>
              <a:t>3 Capabilities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52044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  <a:latin typeface="Segoe UI"/>
              </a:rPr>
              <a:t>Tools (do)  ·  Resources (read)  ·  Prompts (template)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2971800"/>
            <a:ext cx="5669280" cy="1371600"/>
          </a:xfrm>
          <a:prstGeom prst="rect">
            <a:avLst/>
          </a:prstGeom>
          <a:solidFill>
            <a:srgbClr val="162B3C"/>
          </a:solidFill>
          <a:ln w="2540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263640" y="2971800"/>
            <a:ext cx="109728" cy="137160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492240" y="308152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166"/>
                </a:solidFill>
                <a:latin typeface="Segoe UI"/>
              </a:rPr>
              <a:t>2 Transport Options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52044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  <a:latin typeface="Segoe UI"/>
              </a:rPr>
              <a:t>stdio (local)  and  HTTP+SSE (remote)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4572000"/>
            <a:ext cx="5669280" cy="1371600"/>
          </a:xfrm>
          <a:prstGeom prst="rect">
            <a:avLst/>
          </a:prstGeom>
          <a:solidFill>
            <a:srgbClr val="162B3C"/>
          </a:solidFill>
          <a:ln w="2540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320040" y="4572000"/>
            <a:ext cx="109728" cy="1371600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48640" y="468172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6B9D"/>
                </a:solidFill>
                <a:latin typeface="Segoe UI"/>
              </a:rPr>
              <a:t>Why it matters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12064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  <a:latin typeface="Segoe UI"/>
              </a:rPr>
              <a:t>One protocol replaces hundreds of custom integrations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4572000"/>
            <a:ext cx="5669280" cy="1371600"/>
          </a:xfrm>
          <a:prstGeom prst="rect">
            <a:avLst/>
          </a:prstGeom>
          <a:solidFill>
            <a:srgbClr val="162B3C"/>
          </a:solidFill>
          <a:ln w="25400">
            <a:solidFill>
              <a:srgbClr val="C7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6263640" y="4572000"/>
            <a:ext cx="109728" cy="1371600"/>
          </a:xfrm>
          <a:prstGeom prst="rect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492240" y="468172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77DFF"/>
                </a:solidFill>
                <a:latin typeface="Segoe UI"/>
              </a:rPr>
              <a:t>Analogy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512064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  <a:latin typeface="Segoe UI"/>
              </a:rPr>
              <a:t>MCP is the USB-C port of AI applications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795760" y="649224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0C4D8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